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DevimanAI/Yolo11-Human-Detectio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554480"/>
            <a:ext cx="12191695" cy="3108960"/>
          </a:xfrm>
          <a:prstGeom prst="rect">
            <a:avLst/>
          </a:prstGeom>
          <a:solidFill>
            <a:srgbClr val="143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280160" y="1554480"/>
            <a:ext cx="960120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80160" y="4663440"/>
            <a:ext cx="960120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292840" y="598932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0" y="502920"/>
            <a:ext cx="1463040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جلسه دفاع پایان‌نامه کارشناسی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10881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سامانه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تشخیص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و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شناسایی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چهره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انسان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مبتنی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</a:t>
            </a:r>
            <a:r>
              <a:rPr sz="2800" b="1" dirty="0" err="1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بر</a:t>
            </a:r>
            <a:r>
              <a:rPr sz="2800" b="1" dirty="0">
                <a:solidFill>
                  <a:srgbClr val="FFFFFF"/>
                </a:solidFill>
                <a:latin typeface="Traditional Arabic" panose="02020603050405020304" pitchFamily="18" charset="-78"/>
                <a:cs typeface="Vazir" panose="020B0603030804020204" pitchFamily="34" charset="-78"/>
              </a:rPr>
              <a:t> YOLO11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 –  ردیابی </a:t>
            </a:r>
            <a:r>
              <a:rPr lang="fa-IR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چندشیء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lang="fa-IR" sz="130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–  شناسایی چهره (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lang="fa-IR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  - </a:t>
            </a:r>
            <a:r>
              <a:rPr lang="en-US" sz="1300" b="0" dirty="0" err="1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b="0" dirty="0">
                <a:solidFill>
                  <a:srgbClr val="C8DAE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</a:t>
            </a:r>
            <a:endParaRPr sz="1300" b="0" dirty="0">
              <a:solidFill>
                <a:srgbClr val="C8DAE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5164739"/>
            <a:ext cx="1069848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دانشج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و:	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یمان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استاد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راهنما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		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دکتر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endParaRPr sz="1500" b="0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500"/>
              </a:spcAft>
            </a:pP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دانشکده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مهندسی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کامپیوتر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فناوری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اطلاعات</a:t>
            </a:r>
            <a:r>
              <a:rPr lang="fa-IR"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-</a:t>
            </a:r>
            <a:r>
              <a:rPr lang="fa-IR" sz="150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500" b="0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pic>
        <p:nvPicPr>
          <p:cNvPr id="17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4A83296A-1419-5336-40E0-572E0EADD05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3819906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فهرست مطالب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69848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 و اهداف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09728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61304" y="109728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37760" y="135331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0" y="141732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 YOLO11 و مرور روش‌ها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22024" y="233172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69848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9848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 end-to-end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61304" y="233172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937760" y="258775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0" y="265176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5176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22024" y="356616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69848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9848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 آموزش و نتایج کمی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6616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61304" y="356616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937760" y="382219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37760" y="388620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88620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نمودارها و ارزیابی کیفی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1622024" y="4800600"/>
            <a:ext cx="82296" cy="105156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069848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9848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پیاده‌سازی، ردیابی و چهره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800600"/>
            <a:ext cx="54406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861304" y="4800600"/>
            <a:ext cx="82296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937760" y="5056632"/>
            <a:ext cx="777240" cy="530352"/>
          </a:xfrm>
          <a:prstGeom prst="roundRect">
            <a:avLst>
              <a:gd name="adj" fmla="val 25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37760" y="5120640"/>
            <a:ext cx="777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4023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محدودیت‌ها، آینده و جمع‌بندی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بیان مسئله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9728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88136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 عملی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سامانه‌های نظارتی به یافتن انسان در هر فریم، حفظ هویت زمانی و مقایسه چهره با گالری نیاز دارند.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09728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61304" y="109728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0" y="144475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41732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</a:t>
            </a:r>
            <a:r>
              <a:rPr sz="17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7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دقت</a:t>
            </a:r>
            <a:r>
              <a:rPr sz="17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–</a:t>
            </a:r>
            <a:r>
              <a:rPr sz="17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سرعت</a:t>
            </a:r>
            <a:endParaRPr sz="17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7240" y="201168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روش‌های چندمرحله‌ای سنتی برای پردازش نزدیک به بلادرنگ مناسب نیستند.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622024" y="3566160"/>
            <a:ext cx="82296" cy="224028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8136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8136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خانواده YOLO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C3k2، SPPF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وC2PSA </a:t>
            </a:r>
            <a:r>
              <a:rPr lang="fa-IR"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تعادل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سرعت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می‌دهد</a:t>
            </a:r>
            <a:r>
              <a:rPr sz="14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5440680" cy="2240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61304" y="3566160"/>
            <a:ext cx="82296" cy="224028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120640" y="38404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20640" y="391363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6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886200"/>
            <a:ext cx="4160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چالش‌های واقعی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80560"/>
            <a:ext cx="48920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ازدحام، انسداد جزئی، تغییر مقیاس و نیاز به pipeline قابل بازتولید.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اهداف پروژه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561320" y="11978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61320" y="12527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161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 شخص (person) با YOLO11n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11978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2527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18745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76304" y="187452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61320" y="202082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61320" y="207568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03911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پایدار چندشیء با ByteTrack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02082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207568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69748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576304" y="269748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61320" y="284378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561320" y="289864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6207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 اختیاری با DeepFace (Facenet512)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284378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200" y="289864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576304" y="352044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561320" y="366674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61320" y="372160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68503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FastAPI + استریم MJPEG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58200" y="366674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58200" y="372160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34340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576304" y="434340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61320" y="448970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61320" y="454456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50799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روی CrowdHuman (person_yolo11n)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448970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58200" y="454456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 </a:t>
            </a:r>
            <a:r>
              <a:rPr lang="fa-IR" sz="1200" b="1" dirty="0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0.585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1663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1576304" y="5166360"/>
            <a:ext cx="82296" cy="713232"/>
          </a:xfrm>
          <a:prstGeom prst="rect">
            <a:avLst/>
          </a:prstGeom>
          <a:solidFill>
            <a:srgbClr val="2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10561320" y="5312664"/>
            <a:ext cx="438912" cy="438912"/>
          </a:xfrm>
          <a:prstGeom prst="roundRect">
            <a:avLst>
              <a:gd name="adj" fmla="val 40000"/>
            </a:avLst>
          </a:prstGeom>
          <a:solidFill>
            <a:srgbClr val="E6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61320" y="5367528"/>
            <a:ext cx="4389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5330952"/>
            <a:ext cx="75895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 hyperparameterها و بازتولیدپذیری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58200" y="5312664"/>
            <a:ext cx="1965960" cy="438912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5367528"/>
            <a:ext cx="196596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1">
                <a:solidFill>
                  <a:srgbClr val="2A7A4E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یافته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چرا</a:t>
            </a:r>
            <a:r>
              <a:rPr lang="en-US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</a:t>
            </a:r>
            <a:r>
              <a:rPr lang="fa-IR"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مرور روش ها</a:t>
            </a:r>
            <a:endParaRPr lang="fa-IR" sz="2200" b="1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8140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شیء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210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Two-stage (Faster R-CNN):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دقیق‌تر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اما کندتر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Single-stage (YOLO/SSD):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 بلادرنگ</a:t>
            </a:r>
          </a:p>
          <a:p>
            <a:pPr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YOLO11: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anchor،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سبک و سریع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بلوک‌های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C3k2، SPPF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C2PSA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27848" y="109728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0200"/>
            <a:ext cx="3383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SORT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DeepSORT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مبتنی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Kalman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کم‌اطمینان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-SORT: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گزینه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جایگزین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ظاهر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اضافه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post-processing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41648" y="109728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3444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 چهره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600200"/>
            <a:ext cx="3383280" cy="174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Embedding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هایی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مانند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  <a:p>
            <a:pPr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endParaRPr lang="fa-IR"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استنتاج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r" rtl="1">
              <a:spcAft>
                <a:spcPts val="700"/>
              </a:spcAft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5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مرجع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سامانه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198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0198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14206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14206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342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ورودی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342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lang="fa-IR" sz="12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|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ب‌کم</a:t>
            </a:r>
            <a:endParaRPr sz="12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algn="ctr" rtl="1">
              <a:spcAft>
                <a:spcPts val="200"/>
              </a:spcAft>
            </a:pP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OpenCV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167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742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0742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4750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750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886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886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classes=[0]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711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286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1286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75294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5294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430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30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255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1830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918307" y="1143000"/>
            <a:ext cx="1965960" cy="7315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55838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5838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0974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0974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7995" y="2011680"/>
            <a:ext cx="19202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3747" y="1143000"/>
            <a:ext cx="196596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23747" y="1143000"/>
            <a:ext cx="1965960" cy="73152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363827" y="1371600"/>
            <a:ext cx="685800" cy="502920"/>
          </a:xfrm>
          <a:prstGeom prst="roundRect">
            <a:avLst>
              <a:gd name="adj" fmla="val 3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63827" y="1435608"/>
            <a:ext cx="6858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187" y="2011680"/>
            <a:ext cx="1783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187" y="2423160"/>
            <a:ext cx="178308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</a:p>
          <a:p>
            <a:pPr algn="ctr" rtl="1">
              <a:spcAft>
                <a:spcPts val="200"/>
              </a:spcAft>
            </a:pPr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838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18140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667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 تشخیص / ردیابی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069080"/>
            <a:ext cx="3383280" cy="1072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HumanDetectorTracker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detector.py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del.track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classes=[0]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,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persist=True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Track 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2976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927848" y="3566160"/>
            <a:ext cx="73152" cy="256032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3712464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lang="en-US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(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4348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+ Facenet512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گالری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(۵ تصویر)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شباهت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11480" y="3566160"/>
            <a:ext cx="370332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73152" cy="25603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60" y="3703320"/>
            <a:ext cx="3337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رابط وب + مدل پایه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069080"/>
            <a:ext cx="338328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FastAPI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/video - 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MJPEG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به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مرورگر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YOLO11n ≈ 2.6M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پارامتر، بدون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anchor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6 / 22</a:t>
            </a:r>
            <a:endParaRPr sz="1000" b="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مجموعه‌داده CrowdHuman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2202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4937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دلایل انتخاب و آماده‌سازی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50292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bbox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عابر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بدیل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← YOLO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convert_crowdhuman.py</a:t>
            </a: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۰ = person؛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تقسیم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train/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رسمی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Pretrain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COCO؛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سپس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اختصاصی</a:t>
            </a:r>
            <a:endParaRPr sz="1300" b="1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۱۵۳۲  |  </a:t>
            </a:r>
            <a:r>
              <a:rPr lang="fa-IR"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1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r>
              <a:rPr sz="1300" b="1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۳۸۳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۱۵۳۲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5029200"/>
            <a:ext cx="2194560" cy="777240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اعتبارسنجی</a:t>
            </a:r>
            <a:endParaRPr sz="1100" b="1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52560" y="53492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۳۸۳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1051560"/>
            <a:ext cx="5623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hart_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707" y="1453896"/>
            <a:ext cx="4131105" cy="4517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1124712"/>
            <a:ext cx="5440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1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توزیع</a:t>
            </a:r>
            <a:r>
              <a:rPr sz="1100" b="1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/ Val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تنظیمات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person_yolo11</a:t>
            </a:r>
            <a:r>
              <a:rPr lang="en-US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n</a:t>
            </a:r>
            <a:endParaRPr sz="2200" b="1" dirty="0">
              <a:solidFill>
                <a:srgbClr val="FFFFFF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38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1838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yolo11n.pt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09728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person_yolo11n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09728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" y="109728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129844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160020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838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imgsz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۶۴۰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97680" y="233172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33172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233172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253288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optimizer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283464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auto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lr0 / lrf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0.01 / 0.01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97680" y="356616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805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mosaic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1.0 (close_mosaic=10)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56616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11480" y="356616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76732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amp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06908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38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838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patience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297680" y="4800600"/>
            <a:ext cx="37033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805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 تقریبی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۱۷٫۳ دقیقه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800600"/>
            <a:ext cx="370332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11480" y="4800600"/>
            <a:ext cx="37033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4360" y="5001768"/>
            <a:ext cx="3337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weights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5303520"/>
            <a:ext cx="33375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best.pt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6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2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80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84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3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6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22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1" grpId="0" animBg="1"/>
      <p:bldP spid="13" grpId="0"/>
      <p:bldP spid="14" grpId="0"/>
      <p:bldP spid="15" grpId="0" animBg="1"/>
      <p:bldP spid="17" grpId="0"/>
      <p:bldP spid="1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نتایج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کمی</a:t>
            </a:r>
            <a:r>
              <a:rPr lang="fa-IR"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- </a:t>
            </a:r>
            <a:r>
              <a:rPr sz="2200" b="1" dirty="0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8972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8972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8116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28116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</a:t>
            </a:r>
            <a:r>
              <a:rPr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poch</a:t>
            </a:r>
            <a:r>
              <a:rPr lang="en-US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100" b="0" dirty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۴۹</a:t>
            </a:r>
            <a:endParaRPr sz="1100" b="0" dirty="0">
              <a:solidFill>
                <a:srgbClr val="1F8A9D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mAP50-95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</a:t>
            </a:r>
            <a:endParaRPr sz="26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5508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1051560"/>
            <a:ext cx="278892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900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۰٫۷۳۹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1F8A9D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۴۹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27889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1051560"/>
            <a:ext cx="278892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1216152"/>
            <a:ext cx="2606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 Recall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490472"/>
            <a:ext cx="2606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2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۰٫۵۰۴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1984248"/>
            <a:ext cx="2606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C4A35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epoch ۵۰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651760"/>
            <a:ext cx="11338560" cy="3429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art_kpi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176" y="3054096"/>
            <a:ext cx="5417166" cy="29169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2920" y="27249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مقایسه معیارهای کلیدی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بهبود نسبت به شروع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69494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74501"/>
            <a:ext cx="6729984" cy="34759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6766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شروع</a:t>
            </a:r>
            <a:r>
              <a:rPr sz="11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10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پایان</a:t>
            </a:r>
            <a:endParaRPr sz="1100" dirty="0">
              <a:solidFill>
                <a:srgbClr val="5A6A7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589520" y="1051560"/>
            <a:ext cx="41605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128016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6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خلاصه بهبود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7451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09560" y="201167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:	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0.456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0.585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818120" y="260603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274319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mAP50-95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:	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0.225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0.334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818120" y="333755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347471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Precision </a:t>
            </a:r>
            <a:r>
              <a:rPr lang="en-US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≈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0.739 </a:t>
            </a:r>
          </a:p>
          <a:p>
            <a:pPr algn="ctr"/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818120" y="406907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F8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420623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Recall ≈ </a:t>
            </a:r>
            <a:r>
              <a:rPr lang="fa-IR"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0.504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818120" y="4800599"/>
            <a:ext cx="3703320" cy="621792"/>
          </a:xfrm>
          <a:prstGeom prst="roundRect">
            <a:avLst>
              <a:gd name="adj" fmla="val 20000"/>
            </a:avLst>
          </a:prstGeom>
          <a:solidFill>
            <a:srgbClr val="E6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937759"/>
            <a:ext cx="3520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زمان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4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≈ ۱۷٫۳ </a:t>
            </a:r>
            <a:r>
              <a:rPr sz="14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دقیقه</a:t>
            </a:r>
            <a:endParaRPr sz="14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mAP در طول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map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mAP50-95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۵۰ epoch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 Precision و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p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80" y="1453896"/>
            <a:ext cx="876855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روند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Precision </a:t>
            </a:r>
            <a:r>
              <a:rPr lang="fa-IR"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1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12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توابع زیان آموزش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113385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hart_lo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770543"/>
            <a:ext cx="11119104" cy="388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112471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 زیان‌های box / cls / dfl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13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منحنی‌های Precision–Recall و F1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ox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80616"/>
            <a:ext cx="5495544" cy="3663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BoxPR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oxF1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926336"/>
            <a:ext cx="5358384" cy="3572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منحنی BoxF1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14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051560"/>
            <a:ext cx="8869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336" y="1453896"/>
            <a:ext cx="6022848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37360" y="1124712"/>
            <a:ext cx="8686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ماتریس درهم‌ریختگی نرمال‌شده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15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نمونه‌های اعتبارسنجی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571500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al_batch0_pr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138219"/>
            <a:ext cx="5495544" cy="3148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5532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val_batch0_pred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l_batch1_pr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177510"/>
            <a:ext cx="5358384" cy="3069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1124712"/>
            <a:ext cx="53949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val_batch1_pred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16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 استنتاج واقعی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768096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bus_detec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14" y="1453896"/>
            <a:ext cx="3387852" cy="4517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124712"/>
            <a:ext cx="7498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1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bus_detected – وزن best.pt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051560"/>
            <a:ext cx="347472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67744" y="1051560"/>
            <a:ext cx="82296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200" y="128016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نکات استنتاج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15468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کلاس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person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نمونه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خروجی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وزن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best.pt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پس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fine-tune</a:t>
            </a: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مناسب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نمایش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کیف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واقعی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وب‌کم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مدل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استفاده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می‌کند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17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 و بازتولید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835640" y="117957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35640" y="12344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14300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setup-train.ps1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آماده‌سازی محیط و وابستگی‌ها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56232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835640" y="1984248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35640" y="20391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947672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download_dataset.ps1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221992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دانلود CrowdHuman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60904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835640" y="2788920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835640" y="28437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752344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convert_crowdhuman.py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026664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تبدیل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ODGT </a:t>
            </a:r>
            <a:r>
              <a:rPr lang="fa-IR"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200" b="0" dirty="0" err="1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فرمت</a:t>
            </a:r>
            <a:r>
              <a:rPr sz="1200" b="0" dirty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65576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835640" y="3593592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35640" y="3648456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557016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train_yolo11.ps1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31336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 YOLO11n – person_yolo11n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270248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0835640" y="4398264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835640" y="4453128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61688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export_metrics.py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36008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استخراج معیارها و نمودارها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1556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835640" y="5202936"/>
            <a:ext cx="502920" cy="457200"/>
          </a:xfrm>
          <a:prstGeom prst="roundRect">
            <a:avLst>
              <a:gd name="adj" fmla="val 30000"/>
            </a:avLst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835640" y="525780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5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66360"/>
            <a:ext cx="97840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4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run.py + .env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40680"/>
            <a:ext cx="9784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2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تنظیم YOLO_MODEL=…/best.pt و اجرا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18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 چندشیء و شناسایی چهره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631168" y="1051560"/>
            <a:ext cx="73152" cy="50292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074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ByteTrack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12064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 آموزش اضافه؛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post-processing 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detection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Track ID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پایدار حتی با انسداد کوتاه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کیفیت وابسته به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confidence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FPS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</a:t>
            </a: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به‌عنوان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جایگزین 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Kalman + appearance)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)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فعال‌سازی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از طریق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yaml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در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Ultralytics</a:t>
            </a:r>
            <a:endParaRPr lang="en-US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61888" y="105156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18872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lang="en-US"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eepFace</a:t>
            </a:r>
            <a:r>
              <a:rPr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500" b="1" dirty="0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500" b="1" dirty="0" err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endParaRPr sz="1500" b="1" dirty="0">
              <a:solidFill>
                <a:srgbClr val="0B1F3A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1554480"/>
            <a:ext cx="5257800" cy="1941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Facenet512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پیش‌آموزش‌دیده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–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train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از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صفر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known_faces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تصویر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ثبت‌شده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گالری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←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برچسب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»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ناشنا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«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آستانه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کسینوسی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پذیرش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</a:t>
            </a:r>
            <a:endParaRPr lang="fa-IR" sz="130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fa-IR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تست‌ها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</a:t>
            </a:r>
          </a:p>
          <a:p>
            <a:pPr algn="ctr">
              <a:spcAft>
                <a:spcPts val="700"/>
              </a:spcAft>
            </a:pP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smoke_test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PASS</a:t>
            </a:r>
            <a:b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</a:b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</a:t>
            </a:r>
            <a:r>
              <a:rPr lang="en-US" sz="130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api</a:t>
            </a:r>
            <a:r>
              <a:rPr lang="en-US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/status =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19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 و کارهای آینده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051560"/>
            <a:ext cx="544068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1051560"/>
            <a:ext cx="5440680" cy="6400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4983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محدودیت‌ها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7492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وابستگی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سنگین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TensorFlow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دارد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استریم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MJPEG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عمدتاً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یک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کلاینت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همزمان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شناسایی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ROI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دقیق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صورت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ارتقای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بیشتر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mAP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نیازمند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GPU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قوی‌تر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داده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صحنه‌های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بسیار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شلوغ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همچنان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چالش‌برانگیزند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1051560"/>
            <a:ext cx="5577840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051560"/>
            <a:ext cx="5577840" cy="6400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28016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7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پیشنهادات آینده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521208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ویدئوهای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محلی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دانشگاه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/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محیط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هدف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استقرار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باTensorRT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یاONNX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کاهش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تأخیر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Re-ID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چنددوربینه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چارچوب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BoT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-SORT</a:t>
            </a: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اجرا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Jetson / Raspberry Pi</a:t>
            </a:r>
          </a:p>
          <a:p>
            <a:pPr marL="285750" indent="-285750" algn="r" rtl="1"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داشبورد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تحلیل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رفتار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تراکم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جمعیت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20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04672"/>
            <a:ext cx="12191695" cy="4572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45391" y="0"/>
            <a:ext cx="146304" cy="804672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11414455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22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نتیجه‌گیری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76304" y="105156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16128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Pipeline عملی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انسان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YOLO11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به‌همراه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لایه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اختیاری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DeepFace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پیاده‌سازی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6304" y="201168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212140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Fine-tune موفق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روی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CrowdHuman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: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بهترین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mAP50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۰٫۵۸۵ و mAP50-95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= 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۰٫۳۳۴.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7180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576304" y="297180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08152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معماری مدرن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8328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بدون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anchor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است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؛ hyperparameter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ها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برای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30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مشاهده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 </a:t>
            </a:r>
            <a:r>
              <a:rPr lang="fa-IR"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شده‌اند</a:t>
            </a:r>
            <a:r>
              <a:rPr lang="en-US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  <a:endParaRPr sz="1300" b="0" dirty="0">
              <a:solidFill>
                <a:srgbClr val="1C2430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393192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576304" y="3931920"/>
            <a:ext cx="82296" cy="8412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04164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بازتولیدپذیری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43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اسکریپت‌های راه‌اندازی و آموزش، تکرار نتایج را ممکن می‌کنند.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92040"/>
            <a:ext cx="11155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576304" y="4892040"/>
            <a:ext cx="82296" cy="841248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01768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500" b="1">
                <a:solidFill>
                  <a:srgbClr val="0B1F3A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تحقق اهداف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rtl="1"/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تشخیص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ردیابی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چهره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وب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،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آموزش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و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مستندسازی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– </a:t>
            </a:r>
            <a:r>
              <a:rPr lang="fa-IR"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همگی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محقق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300" b="0" dirty="0" err="1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شدند</a:t>
            </a:r>
            <a:r>
              <a:rPr sz="1300" b="0" dirty="0">
                <a:solidFill>
                  <a:srgbClr val="1C243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92240"/>
            <a:ext cx="11277295" cy="12700"/>
          </a:xfrm>
          <a:prstGeom prst="rect">
            <a:avLst/>
          </a:prstGeom>
          <a:solidFill>
            <a:srgbClr val="E2D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28816"/>
            <a:ext cx="11277295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تشخیص انسان با </a:t>
            </a:r>
            <a:r>
              <a:rPr lang="en-US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YOLO11  |  </a:t>
            </a:r>
            <a:r>
              <a:rPr lang="fa-IR" sz="1000" b="0">
                <a:solidFill>
                  <a:srgbClr val="5A6A7A"/>
                </a:solidFill>
                <a:latin typeface="Vazir" panose="020B0603030804020204" pitchFamily="34" charset="-78"/>
                <a:cs typeface="Vazir" panose="020B0603030804020204"/>
              </a:rPr>
              <a:t>ایمان احمدی  |  21 / 22</a:t>
            </a:r>
            <a:endParaRPr sz="1000" b="0">
              <a:solidFill>
                <a:srgbClr val="5A6A7A"/>
              </a:solidFill>
              <a:latin typeface="Vazir" panose="020B0603030804020204" pitchFamily="34" charset="-78"/>
              <a:cs typeface="Vazir" panose="020B0603030804020204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2008815" y="0"/>
            <a:ext cx="182880" cy="685800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2194560"/>
            <a:ext cx="8503920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3600" b="1">
                <a:solidFill>
                  <a:srgbClr val="FFFFFF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با سپاس از توجه شما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آماده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پاسخگویی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به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پرسش‌ها</a:t>
            </a:r>
            <a:r>
              <a:rPr sz="1800" b="0" dirty="0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800" b="0" dirty="0" err="1">
                <a:solidFill>
                  <a:srgbClr val="B0C4D8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هستم</a:t>
            </a:r>
            <a:endParaRPr sz="1800" b="0" dirty="0">
              <a:solidFill>
                <a:srgbClr val="B0C4D8"/>
              </a:solidFill>
              <a:latin typeface="Vazir" panose="020B0603030804020204" pitchFamily="34" charset="-78"/>
              <a:cs typeface="Vazir" panose="020B0603030804020204" pitchFamily="34" charset="-78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828800" y="4069080"/>
            <a:ext cx="8503920" cy="32004"/>
          </a:xfrm>
          <a:prstGeom prst="rect">
            <a:avLst/>
          </a:prstGeom>
          <a:solidFill>
            <a:srgbClr val="1F8A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6984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ایمان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احمدی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en-US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د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کتر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رضا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شمسائی</a:t>
            </a:r>
            <a:r>
              <a:rPr lang="fa-IR" sz="140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|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lang="fa-IR"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</a:t>
            </a:r>
            <a:r>
              <a:rPr sz="1400" b="0" dirty="0" err="1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شهریور</a:t>
            </a:r>
            <a:r>
              <a:rPr sz="1400" b="0" dirty="0">
                <a:solidFill>
                  <a:srgbClr val="9AB4D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 ۱۴۰۵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rtl="1"/>
            <a:r>
              <a:rPr sz="1200" b="0">
                <a:solidFill>
                  <a:srgbClr val="7A96B0"/>
                </a:solidFill>
                <a:latin typeface="Vazir" panose="020B0603030804020204" pitchFamily="34" charset="-78"/>
                <a:cs typeface="Vazir" panose="020B0603030804020204" pitchFamily="34" charset="-78"/>
              </a:rPr>
              <a:t>YOLO11n + ByteTrack + DeepFace (Facenet512) + FastAPI MJPEG</a:t>
            </a:r>
          </a:p>
        </p:txBody>
      </p:sp>
      <p:pic>
        <p:nvPicPr>
          <p:cNvPr id="13" name="GitHubLinkChip">
            <a:hlinkClick r:id="rId2" tooltip="https://github.com/DevimanAI/Yolo11-Human-Detection"/>
            <a:extLst>
              <a:ext uri="{FF2B5EF4-FFF2-40B4-BE49-F238E27FC236}">
                <a16:creationId xmlns:a16="http://schemas.microsoft.com/office/drawing/2014/main" id="{FC92A5E6-EFB4-1448-4E59-E2FA26C3FC0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01540" y="5687568"/>
            <a:ext cx="2788920" cy="658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azi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1277</Words>
  <Application>Microsoft Office PowerPoint</Application>
  <PresentationFormat>Widescreen</PresentationFormat>
  <Paragraphs>277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Traditional Arabic</vt:lpstr>
      <vt:lpstr>Vazir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Iman Ahmadi</cp:lastModifiedBy>
  <cp:revision>80</cp:revision>
  <dcterms:created xsi:type="dcterms:W3CDTF">2013-01-27T09:14:16Z</dcterms:created>
  <dcterms:modified xsi:type="dcterms:W3CDTF">2026-10-04T11:48:37Z</dcterms:modified>
  <cp:category/>
</cp:coreProperties>
</file>