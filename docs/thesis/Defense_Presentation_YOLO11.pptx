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DevimanAI/Yolo11-Human-Detection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DevimanAI/Yolo11-Human-Detectio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008815" y="0"/>
            <a:ext cx="18288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3108960"/>
          </a:xfrm>
          <a:prstGeom prst="rect">
            <a:avLst/>
          </a:prstGeom>
          <a:solidFill>
            <a:srgbClr val="14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0160" y="1554480"/>
            <a:ext cx="9601200" cy="3200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80160" y="4663440"/>
            <a:ext cx="9601200" cy="32004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292840" y="59893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01200" y="502920"/>
            <a:ext cx="1463040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0">
                <a:solidFill>
                  <a:srgbClr val="B0C4D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جلسه دفاع پایان‌نامه کارشناسی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10881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28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سامانه</a:t>
            </a:r>
            <a:r>
              <a:rPr sz="2800" b="1" dirty="0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تشخیص</a:t>
            </a:r>
            <a:r>
              <a:rPr sz="2800" b="1" dirty="0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 و </a:t>
            </a:r>
            <a:r>
              <a:rPr sz="28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شناسایی</a:t>
            </a:r>
            <a:r>
              <a:rPr sz="2800" b="1" dirty="0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چهره</a:t>
            </a:r>
            <a:r>
              <a:rPr sz="2800" b="1" dirty="0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انسان</a:t>
            </a:r>
            <a:r>
              <a:rPr sz="2800" b="1" dirty="0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مبتنی</a:t>
            </a:r>
            <a:r>
              <a:rPr sz="2800" b="1" dirty="0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بر</a:t>
            </a:r>
            <a:r>
              <a:rPr sz="2800" b="1" dirty="0">
                <a:solidFill>
                  <a:srgbClr val="FFFFFF"/>
                </a:solidFill>
                <a:latin typeface="Traditional Arabic" panose="02020603050405020304" pitchFamily="18" charset="-78"/>
                <a:cs typeface="Vazir" panose="020B0603030804020204" pitchFamily="34" charset="-78"/>
              </a:rPr>
              <a:t> YOLO11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10698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300" b="0" dirty="0">
                <a:solidFill>
                  <a:srgbClr val="C8DAE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تشخیص  –  ردیابی </a:t>
            </a:r>
            <a:r>
              <a:rPr lang="fa-IR" sz="1300" b="0" dirty="0" err="1">
                <a:solidFill>
                  <a:srgbClr val="C8DAE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چندشیء</a:t>
            </a:r>
            <a:r>
              <a:rPr lang="fa-IR" sz="1300" b="0" dirty="0">
                <a:solidFill>
                  <a:srgbClr val="C8DAE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(</a:t>
            </a:r>
            <a:r>
              <a:rPr lang="en-US" sz="1300" b="0" dirty="0" err="1">
                <a:solidFill>
                  <a:srgbClr val="C8DAE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ByteTrack</a:t>
            </a:r>
            <a:r>
              <a:rPr lang="fa-IR" sz="1300" dirty="0">
                <a:solidFill>
                  <a:srgbClr val="C8DAE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)  </a:t>
            </a:r>
            <a:r>
              <a:rPr lang="fa-IR" sz="1300" b="0" dirty="0">
                <a:solidFill>
                  <a:srgbClr val="C8DAE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–  شناسایی چهره (</a:t>
            </a:r>
            <a:r>
              <a:rPr lang="en-US" sz="1300" b="0" dirty="0" err="1">
                <a:solidFill>
                  <a:srgbClr val="C8DAE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DeepFace</a:t>
            </a:r>
            <a:r>
              <a:rPr lang="fa-IR" sz="1300" b="0" dirty="0">
                <a:solidFill>
                  <a:srgbClr val="C8DAE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)  - </a:t>
            </a:r>
            <a:r>
              <a:rPr lang="en-US" sz="1300" b="0" dirty="0" err="1">
                <a:solidFill>
                  <a:srgbClr val="C8DAE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FastAPI</a:t>
            </a:r>
            <a:r>
              <a:rPr lang="en-US" sz="1300" b="0" dirty="0">
                <a:solidFill>
                  <a:srgbClr val="C8DAE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MJPEG</a:t>
            </a:r>
            <a:endParaRPr sz="1300" b="0" dirty="0">
              <a:solidFill>
                <a:srgbClr val="C8DAE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5164739"/>
            <a:ext cx="1069848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Aft>
                <a:spcPts val="500"/>
              </a:spcAft>
            </a:pP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دانشج</a:t>
            </a:r>
            <a:r>
              <a:rPr lang="fa-IR"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و:	</a:t>
            </a:r>
            <a:r>
              <a:rPr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</a:t>
            </a: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یمان</a:t>
            </a:r>
            <a:r>
              <a:rPr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احمدی</a:t>
            </a:r>
            <a:endParaRPr sz="1500" b="0" dirty="0">
              <a:solidFill>
                <a:srgbClr val="FFFFFF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 rtl="1">
              <a:spcAft>
                <a:spcPts val="500"/>
              </a:spcAft>
            </a:pP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استاد</a:t>
            </a:r>
            <a:r>
              <a:rPr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راهنما</a:t>
            </a:r>
            <a:r>
              <a:rPr lang="fa-IR"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:		</a:t>
            </a: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دکتر</a:t>
            </a:r>
            <a:r>
              <a:rPr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رضا</a:t>
            </a:r>
            <a:r>
              <a:rPr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شمسائی</a:t>
            </a:r>
            <a:endParaRPr sz="1500" b="0" dirty="0">
              <a:solidFill>
                <a:srgbClr val="FFFFFF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 rtl="1">
              <a:spcAft>
                <a:spcPts val="500"/>
              </a:spcAft>
            </a:pP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دانشکده</a:t>
            </a:r>
            <a:r>
              <a:rPr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مهندسی</a:t>
            </a:r>
            <a:r>
              <a:rPr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کامپیوتر</a:t>
            </a:r>
            <a:r>
              <a:rPr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و </a:t>
            </a: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فناوری</a:t>
            </a:r>
            <a:r>
              <a:rPr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اطلاعات</a:t>
            </a:r>
            <a:r>
              <a:rPr lang="fa-IR"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 -</a:t>
            </a:r>
            <a:r>
              <a:rPr lang="fa-IR" sz="150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شهریور</a:t>
            </a:r>
            <a:r>
              <a:rPr sz="1500" b="0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۱۴۰۵</a:t>
            </a:r>
          </a:p>
        </p:txBody>
      </p:sp>
      <p:pic>
        <p:nvPicPr>
          <p:cNvPr id="17" name="GitHubLinkChip">
            <a:hlinkClick r:id="rId2" tooltip="https://github.com/DevimanAI/Yolo11-Human-Detection"/>
            <a:extLst>
              <a:ext uri="{FF2B5EF4-FFF2-40B4-BE49-F238E27FC236}">
                <a16:creationId xmlns:a16="http://schemas.microsoft.com/office/drawing/2014/main" id="{4A83296A-1419-5336-40E0-572E0EADD05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701540" y="3819906"/>
            <a:ext cx="2788920" cy="658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فهرست مطالب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97280"/>
            <a:ext cx="5440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22024" y="1097280"/>
            <a:ext cx="82296" cy="105156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698480" y="1353312"/>
            <a:ext cx="777240" cy="530352"/>
          </a:xfrm>
          <a:prstGeom prst="roundRect">
            <a:avLst>
              <a:gd name="adj" fmla="val 25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0" y="1417320"/>
            <a:ext cx="777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بیان مسئله و اهداف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97280"/>
            <a:ext cx="5440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61304" y="1097280"/>
            <a:ext cx="82296" cy="1051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937760" y="1353312"/>
            <a:ext cx="777240" cy="530352"/>
          </a:xfrm>
          <a:prstGeom prst="roundRect">
            <a:avLst>
              <a:gd name="adj" fmla="val 25000"/>
            </a:avLst>
          </a:prstGeom>
          <a:solidFill>
            <a:srgbClr val="F8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1417320"/>
            <a:ext cx="777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C4A35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41732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YOLO11 و مرور روش‌ها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331720"/>
            <a:ext cx="5440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22024" y="2331720"/>
            <a:ext cx="82296" cy="105156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698480" y="2587752"/>
            <a:ext cx="777240" cy="530352"/>
          </a:xfrm>
          <a:prstGeom prst="roundRect">
            <a:avLst>
              <a:gd name="adj" fmla="val 25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98480" y="2651760"/>
            <a:ext cx="777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5176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معماری سامانه end-to-end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5440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61304" y="2331720"/>
            <a:ext cx="82296" cy="1051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937760" y="2587752"/>
            <a:ext cx="777240" cy="530352"/>
          </a:xfrm>
          <a:prstGeom prst="roundRect">
            <a:avLst>
              <a:gd name="adj" fmla="val 25000"/>
            </a:avLst>
          </a:prstGeom>
          <a:solidFill>
            <a:srgbClr val="F8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0" y="2651760"/>
            <a:ext cx="777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C4A35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65176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مجموعه‌داده CrowdHuman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566160"/>
            <a:ext cx="5440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622024" y="3566160"/>
            <a:ext cx="82296" cy="105156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698480" y="3822192"/>
            <a:ext cx="777240" cy="530352"/>
          </a:xfrm>
          <a:prstGeom prst="roundRect">
            <a:avLst>
              <a:gd name="adj" fmla="val 25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98480" y="3886200"/>
            <a:ext cx="777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88620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تنظیمات آموزش و نتایج کمی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566160"/>
            <a:ext cx="5440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861304" y="3566160"/>
            <a:ext cx="82296" cy="1051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937760" y="3822192"/>
            <a:ext cx="777240" cy="530352"/>
          </a:xfrm>
          <a:prstGeom prst="roundRect">
            <a:avLst>
              <a:gd name="adj" fmla="val 25000"/>
            </a:avLst>
          </a:prstGeom>
          <a:solidFill>
            <a:srgbClr val="F8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60" y="3886200"/>
            <a:ext cx="777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C4A35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88620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نمودارها و ارزیابی کیفی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800600"/>
            <a:ext cx="5440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622024" y="4800600"/>
            <a:ext cx="82296" cy="105156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698480" y="5056632"/>
            <a:ext cx="777240" cy="530352"/>
          </a:xfrm>
          <a:prstGeom prst="roundRect">
            <a:avLst>
              <a:gd name="adj" fmla="val 25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98480" y="5120640"/>
            <a:ext cx="777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12064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پیاده‌سازی، ردیابی و چهره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800600"/>
            <a:ext cx="544068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61304" y="4800600"/>
            <a:ext cx="82296" cy="1051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937760" y="5056632"/>
            <a:ext cx="777240" cy="530352"/>
          </a:xfrm>
          <a:prstGeom prst="roundRect">
            <a:avLst>
              <a:gd name="adj" fmla="val 25000"/>
            </a:avLst>
          </a:prstGeom>
          <a:solidFill>
            <a:srgbClr val="F8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37760" y="5120640"/>
            <a:ext cx="777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C4A35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12064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محدودیت‌ها، آینده و جمع‌بندی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2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بیان مسئله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97280"/>
            <a:ext cx="544068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22024" y="1097280"/>
            <a:ext cx="82296" cy="224028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881360" y="13716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81360" y="1444752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6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417320"/>
            <a:ext cx="4160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7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نیاز عملی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سامانه‌های نظارتی به یافتن انسان در هر فریم، حفظ هویت زمانی و مقایسه چهره با گالری نیاز دارند.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097280"/>
            <a:ext cx="544068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61304" y="1097280"/>
            <a:ext cx="82296" cy="224028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8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1444752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600" b="1">
                <a:solidFill>
                  <a:srgbClr val="C4A35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417320"/>
            <a:ext cx="4160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7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تعادل دقت–سرعت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01168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روش‌های چندمرحله‌ای سنتی برای پردازش نزدیک به بلادرنگ مناسب نیستند.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566160"/>
            <a:ext cx="544068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622024" y="3566160"/>
            <a:ext cx="82296" cy="224028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881360" y="38404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81360" y="3913632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6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886200"/>
            <a:ext cx="4160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7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خانواده YOLO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8056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YOLO11 </a:t>
            </a:r>
            <a:r>
              <a:rPr lang="fa-IR"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با</a:t>
            </a:r>
            <a:r>
              <a:rPr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بلوک‌های</a:t>
            </a:r>
            <a:r>
              <a:rPr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C3k2، SPPF </a:t>
            </a:r>
            <a:r>
              <a:rPr lang="fa-IR"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وC2PSA </a:t>
            </a:r>
            <a:r>
              <a:rPr lang="fa-IR"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تعادل</a:t>
            </a:r>
            <a:r>
              <a:rPr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دقت</a:t>
            </a:r>
            <a:r>
              <a:rPr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و </a:t>
            </a:r>
            <a:r>
              <a:rPr sz="14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سرعت</a:t>
            </a:r>
            <a:r>
              <a:rPr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را</a:t>
            </a:r>
            <a:r>
              <a:rPr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بهبود</a:t>
            </a:r>
            <a:r>
              <a:rPr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می‌دهد</a:t>
            </a:r>
            <a:r>
              <a:rPr sz="14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566160"/>
            <a:ext cx="5440680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61304" y="3566160"/>
            <a:ext cx="82296" cy="224028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120640" y="38404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8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0" y="3913632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600" b="1">
                <a:solidFill>
                  <a:srgbClr val="C4A35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886200"/>
            <a:ext cx="4160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7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چالش‌های واقعی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480560"/>
            <a:ext cx="48920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ازدحام، انسداد جزئی، تغییر مقیاس و نیاز به pipeline قابل بازتولید.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3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اهداف پروژه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76304" y="1051560"/>
            <a:ext cx="82296" cy="713232"/>
          </a:xfrm>
          <a:prstGeom prst="rect">
            <a:avLst/>
          </a:prstGeom>
          <a:solidFill>
            <a:srgbClr val="2A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61320" y="1197864"/>
            <a:ext cx="438912" cy="438912"/>
          </a:xfrm>
          <a:prstGeom prst="roundRect">
            <a:avLst>
              <a:gd name="adj" fmla="val 40000"/>
            </a:avLst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61320" y="1252728"/>
            <a:ext cx="43891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216152"/>
            <a:ext cx="7589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تشخیص شخص (person) با YOLO11n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197864"/>
            <a:ext cx="1965960" cy="438912"/>
          </a:xfrm>
          <a:prstGeom prst="roundRect">
            <a:avLst>
              <a:gd name="adj" fmla="val 3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252728"/>
            <a:ext cx="1965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1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تحقق یافته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7452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576304" y="1874520"/>
            <a:ext cx="82296" cy="713232"/>
          </a:xfrm>
          <a:prstGeom prst="rect">
            <a:avLst/>
          </a:prstGeom>
          <a:solidFill>
            <a:srgbClr val="2A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61320" y="2020824"/>
            <a:ext cx="438912" cy="438912"/>
          </a:xfrm>
          <a:prstGeom prst="roundRect">
            <a:avLst>
              <a:gd name="adj" fmla="val 40000"/>
            </a:avLst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61320" y="2075688"/>
            <a:ext cx="43891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039112"/>
            <a:ext cx="7589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ردیابی پایدار چندشیء با ByteTrack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2020824"/>
            <a:ext cx="1965960" cy="438912"/>
          </a:xfrm>
          <a:prstGeom prst="roundRect">
            <a:avLst>
              <a:gd name="adj" fmla="val 3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2075688"/>
            <a:ext cx="1965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1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تحقق یافته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9748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576304" y="2697480"/>
            <a:ext cx="82296" cy="713232"/>
          </a:xfrm>
          <a:prstGeom prst="rect">
            <a:avLst/>
          </a:prstGeom>
          <a:solidFill>
            <a:srgbClr val="2A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61320" y="2843784"/>
            <a:ext cx="438912" cy="438912"/>
          </a:xfrm>
          <a:prstGeom prst="roundRect">
            <a:avLst>
              <a:gd name="adj" fmla="val 40000"/>
            </a:avLst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61320" y="2898648"/>
            <a:ext cx="43891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862072"/>
            <a:ext cx="7589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شناسایی چهره اختیاری با DeepFace (Facenet512)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2843784"/>
            <a:ext cx="1965960" cy="438912"/>
          </a:xfrm>
          <a:prstGeom prst="roundRect">
            <a:avLst>
              <a:gd name="adj" fmla="val 3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2898648"/>
            <a:ext cx="1965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1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تحقق یافته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044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576304" y="3520440"/>
            <a:ext cx="82296" cy="713232"/>
          </a:xfrm>
          <a:prstGeom prst="rect">
            <a:avLst/>
          </a:prstGeom>
          <a:solidFill>
            <a:srgbClr val="2A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61320" y="3666744"/>
            <a:ext cx="438912" cy="438912"/>
          </a:xfrm>
          <a:prstGeom prst="roundRect">
            <a:avLst>
              <a:gd name="adj" fmla="val 40000"/>
            </a:avLst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61320" y="3721608"/>
            <a:ext cx="43891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685032"/>
            <a:ext cx="7589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رابط وب FastAPI + استریم MJPEG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200" y="3666744"/>
            <a:ext cx="1965960" cy="438912"/>
          </a:xfrm>
          <a:prstGeom prst="roundRect">
            <a:avLst>
              <a:gd name="adj" fmla="val 3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58200" y="3721608"/>
            <a:ext cx="1965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1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تحقق یافته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34340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576304" y="4343400"/>
            <a:ext cx="82296" cy="713232"/>
          </a:xfrm>
          <a:prstGeom prst="rect">
            <a:avLst/>
          </a:prstGeom>
          <a:solidFill>
            <a:srgbClr val="2A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561320" y="4489704"/>
            <a:ext cx="438912" cy="438912"/>
          </a:xfrm>
          <a:prstGeom prst="roundRect">
            <a:avLst>
              <a:gd name="adj" fmla="val 40000"/>
            </a:avLst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61320" y="4544568"/>
            <a:ext cx="43891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507992"/>
            <a:ext cx="7589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Fine-tune روی CrowdHuman (person_yolo11n)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4489704"/>
            <a:ext cx="1965960" cy="438912"/>
          </a:xfrm>
          <a:prstGeom prst="roundRect">
            <a:avLst>
              <a:gd name="adj" fmla="val 3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58200" y="4544568"/>
            <a:ext cx="1965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en-US" sz="1200" b="1" dirty="0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mAP50 </a:t>
            </a:r>
            <a:r>
              <a:rPr lang="fa-IR" sz="1200" b="1" dirty="0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= 0.585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16636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576304" y="5166360"/>
            <a:ext cx="82296" cy="713232"/>
          </a:xfrm>
          <a:prstGeom prst="rect">
            <a:avLst/>
          </a:prstGeom>
          <a:solidFill>
            <a:srgbClr val="2A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561320" y="5312664"/>
            <a:ext cx="438912" cy="438912"/>
          </a:xfrm>
          <a:prstGeom prst="roundRect">
            <a:avLst>
              <a:gd name="adj" fmla="val 40000"/>
            </a:avLst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61320" y="5367528"/>
            <a:ext cx="43891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30952"/>
            <a:ext cx="7589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مستندسازی hyperparameterها و بازتولیدپذیری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58200" y="5312664"/>
            <a:ext cx="1965960" cy="438912"/>
          </a:xfrm>
          <a:prstGeom prst="roundRect">
            <a:avLst>
              <a:gd name="adj" fmla="val 3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58200" y="5367528"/>
            <a:ext cx="1965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1">
                <a:solidFill>
                  <a:srgbClr val="2A7A4E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تحقق یافته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4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YOLO11 + مرور روش‌ها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097280"/>
            <a:ext cx="370332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14048" y="1097280"/>
            <a:ext cx="73152" cy="502920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1234440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تشخیص</a:t>
            </a:r>
            <a:r>
              <a:rPr sz="15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5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شیء</a:t>
            </a:r>
            <a:endParaRPr sz="1500" b="1" dirty="0">
              <a:solidFill>
                <a:srgbClr val="0B1F3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1600200"/>
            <a:ext cx="33832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>
              <a:spcAft>
                <a:spcPts val="700"/>
              </a:spcAft>
            </a:pP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Two-stage (Faster R-CNN):</a:t>
            </a:r>
            <a:endParaRPr lang="fa-IR" sz="130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 rtl="1">
              <a:spcAft>
                <a:spcPts val="700"/>
              </a:spcAft>
            </a:pP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دقیق‌تر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اما کندتر</a:t>
            </a:r>
          </a:p>
          <a:p>
            <a:pPr rtl="1">
              <a:spcAft>
                <a:spcPts val="700"/>
              </a:spcAft>
            </a:pP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Single-stage (YOLO/SSD):</a:t>
            </a:r>
            <a:endParaRPr lang="fa-IR" sz="130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 rtl="1">
              <a:spcAft>
                <a:spcPts val="700"/>
              </a:spcAft>
            </a:pP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مناسب بلادرنگ</a:t>
            </a:r>
          </a:p>
          <a:p>
            <a:pPr rtl="1">
              <a:spcAft>
                <a:spcPts val="700"/>
              </a:spcAft>
            </a:pP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YOLO11:</a:t>
            </a:r>
            <a:endParaRPr lang="fa-IR" sz="130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 rtl="1">
              <a:spcAft>
                <a:spcPts val="700"/>
              </a:spcAft>
            </a:pP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بدون 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anchor،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سبک و سریع</a:t>
            </a:r>
            <a:endParaRPr lang="en-US" sz="130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 rtl="1">
              <a:spcAft>
                <a:spcPts val="700"/>
              </a:spcAft>
            </a:pPr>
            <a:r>
              <a:rPr lang="fa-IR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بلوک‌های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C3k2، SPPF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و 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C2PSA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70332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27848" y="1097280"/>
            <a:ext cx="73152" cy="50292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234440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ردیابی چندشیء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00200"/>
            <a:ext cx="33832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>
              <a:spcAft>
                <a:spcPts val="700"/>
              </a:spcAft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SORT /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DeepSORT</a:t>
            </a:r>
            <a:endParaRPr lang="fa-IR"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 rtl="1">
              <a:spcAft>
                <a:spcPts val="700"/>
              </a:spcAft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مبتنی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بر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Kalman</a:t>
            </a:r>
          </a:p>
          <a:p>
            <a:pPr rtl="1">
              <a:spcAft>
                <a:spcPts val="700"/>
              </a:spcAft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ByteTrack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:</a:t>
            </a:r>
            <a:endParaRPr lang="fa-IR"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 rtl="1">
              <a:spcAft>
                <a:spcPts val="700"/>
              </a:spcAft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استفاده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از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detectionهای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کم‌اطمینان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rtl="1">
              <a:spcAft>
                <a:spcPts val="700"/>
              </a:spcAft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BoT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-SORT:</a:t>
            </a:r>
            <a:endParaRPr lang="fa-IR"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 rtl="1">
              <a:spcAft>
                <a:spcPts val="700"/>
              </a:spcAft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گزینه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جایگزین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با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ظاهر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 rtl="1">
              <a:spcAft>
                <a:spcPts val="700"/>
              </a:spcAft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بدون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آموزش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اضافه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؛ post-processing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097280"/>
            <a:ext cx="370332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41648" y="1097280"/>
            <a:ext cx="73152" cy="502920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234440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شناسایی چهره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3383280" cy="174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>
              <a:spcAft>
                <a:spcPts val="700"/>
              </a:spcAft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Embedding</a:t>
            </a:r>
            <a:endParaRPr lang="fa-IR"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 rtl="1">
              <a:spcAft>
                <a:spcPts val="700"/>
              </a:spcAft>
            </a:pPr>
            <a:r>
              <a:rPr lang="fa-IR"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هایی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مانند </a:t>
            </a:r>
            <a:r>
              <a:rPr lang="en-US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Facenet512</a:t>
            </a:r>
          </a:p>
          <a:p>
            <a:pPr rtl="1">
              <a:spcAft>
                <a:spcPts val="700"/>
              </a:spcAft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DeepFace</a:t>
            </a:r>
            <a:endParaRPr lang="fa-IR"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 rtl="1">
              <a:spcAft>
                <a:spcPts val="700"/>
              </a:spcAft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برای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استنتاج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آماده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 rtl="1">
              <a:spcAft>
                <a:spcPts val="700"/>
              </a:spcAft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گالری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محلی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known_faces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+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آستانه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کسینوسی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r" rtl="1">
              <a:spcAft>
                <a:spcPts val="700"/>
              </a:spcAft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ثبت‌شده</a:t>
            </a:r>
            <a:r>
              <a:rPr lang="en-US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: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5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تصویر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مرجع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5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معماری سامانه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1987" y="1143000"/>
            <a:ext cx="196596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01987" y="1143000"/>
            <a:ext cx="1965960" cy="73152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42067" y="1371600"/>
            <a:ext cx="685800" cy="502920"/>
          </a:xfrm>
          <a:prstGeom prst="roundRect">
            <a:avLst>
              <a:gd name="adj" fmla="val 3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42067" y="1435608"/>
            <a:ext cx="685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3427" y="2011680"/>
            <a:ext cx="1783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ورودی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93427" y="2423160"/>
            <a:ext cx="1783080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sz="1200" b="0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ویدئو</a:t>
            </a:r>
            <a:r>
              <a:rPr lang="fa-IR" sz="120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| </a:t>
            </a:r>
            <a:r>
              <a:rPr lang="fa-IR" sz="12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</a:t>
            </a:r>
            <a:r>
              <a:rPr sz="1200" b="0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ب‌کم</a:t>
            </a:r>
            <a:endParaRPr sz="1200" b="0" dirty="0">
              <a:solidFill>
                <a:srgbClr val="5A6A7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 rtl="1">
              <a:spcAft>
                <a:spcPts val="200"/>
              </a:spcAft>
            </a:pPr>
            <a:r>
              <a:rPr sz="12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OpenCV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1675" y="2011680"/>
            <a:ext cx="1920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7427" y="1143000"/>
            <a:ext cx="196596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07427" y="1143000"/>
            <a:ext cx="1965960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47507" y="1371600"/>
            <a:ext cx="685800" cy="502920"/>
          </a:xfrm>
          <a:prstGeom prst="roundRect">
            <a:avLst>
              <a:gd name="adj" fmla="val 30000"/>
            </a:avLst>
          </a:prstGeom>
          <a:solidFill>
            <a:srgbClr val="F8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47507" y="1435608"/>
            <a:ext cx="685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C4A35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8867" y="2011680"/>
            <a:ext cx="1783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تشخیص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8867" y="2423160"/>
            <a:ext cx="1783080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YOLO11n</a:t>
            </a:r>
          </a:p>
          <a:p>
            <a:pPr algn="ctr" rtl="1"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classes=[0]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7115" y="2011680"/>
            <a:ext cx="1920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12867" y="1143000"/>
            <a:ext cx="196596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12867" y="1143000"/>
            <a:ext cx="1965960" cy="73152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52947" y="1371600"/>
            <a:ext cx="685800" cy="502920"/>
          </a:xfrm>
          <a:prstGeom prst="roundRect">
            <a:avLst>
              <a:gd name="adj" fmla="val 3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52947" y="1435608"/>
            <a:ext cx="685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4307" y="2011680"/>
            <a:ext cx="1783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ردیابی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4307" y="2423160"/>
            <a:ext cx="1783080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ByteTrack</a:t>
            </a:r>
          </a:p>
          <a:p>
            <a:pPr algn="ctr" rtl="1"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Track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2555" y="2011680"/>
            <a:ext cx="1920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18307" y="1143000"/>
            <a:ext cx="196596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918307" y="1143000"/>
            <a:ext cx="1965960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558387" y="1371600"/>
            <a:ext cx="685800" cy="502920"/>
          </a:xfrm>
          <a:prstGeom prst="roundRect">
            <a:avLst>
              <a:gd name="adj" fmla="val 30000"/>
            </a:avLst>
          </a:prstGeom>
          <a:solidFill>
            <a:srgbClr val="F8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58387" y="1435608"/>
            <a:ext cx="685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C4A35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09747" y="2011680"/>
            <a:ext cx="1783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چهره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09747" y="2423160"/>
            <a:ext cx="1783080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DeepFace</a:t>
            </a:r>
          </a:p>
          <a:p>
            <a:pPr algn="ctr" rtl="1"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Facenet512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07995" y="2011680"/>
            <a:ext cx="1920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3747" y="1143000"/>
            <a:ext cx="196596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23747" y="1143000"/>
            <a:ext cx="1965960" cy="73152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363827" y="1371600"/>
            <a:ext cx="685800" cy="502920"/>
          </a:xfrm>
          <a:prstGeom prst="roundRect">
            <a:avLst>
              <a:gd name="adj" fmla="val 3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63827" y="1435608"/>
            <a:ext cx="685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187" y="2011680"/>
            <a:ext cx="1783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187" y="2423160"/>
            <a:ext cx="1783080" cy="4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FastAPI</a:t>
            </a:r>
          </a:p>
          <a:p>
            <a:pPr algn="ctr" rtl="1"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MJPEG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83880" y="3566160"/>
            <a:ext cx="370332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1814048" y="3566160"/>
            <a:ext cx="73152" cy="25603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66760" y="3703320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لایه تشخیص / ردیابی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069080"/>
            <a:ext cx="3383280" cy="1072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HumanDetectorTracker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در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detector.py</a:t>
            </a: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en-US"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mo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del.track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با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classes=[0]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, 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persist=True</a:t>
            </a: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ByteTrack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برای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Track ID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پایدار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297680" y="3566160"/>
            <a:ext cx="370332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927848" y="3566160"/>
            <a:ext cx="73152" cy="25603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80560" y="3712464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لایه</a:t>
            </a:r>
            <a:r>
              <a:rPr sz="15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5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چهره</a:t>
            </a:r>
            <a:r>
              <a:rPr sz="15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en-US" sz="15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)</a:t>
            </a:r>
            <a:r>
              <a:rPr sz="15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اختیاری</a:t>
            </a:r>
            <a:r>
              <a:rPr lang="en-US" sz="15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(</a:t>
            </a:r>
            <a:endParaRPr sz="1500" b="1" dirty="0">
              <a:solidFill>
                <a:srgbClr val="0B1F3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434840" y="4069080"/>
            <a:ext cx="338328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DeepFace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+ Facenet512</a:t>
            </a: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گالری </a:t>
            </a:r>
            <a:r>
              <a:rPr lang="en-US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known_faces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(۵ تصویر)</a:t>
            </a: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آستانه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شباهت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کسینوسی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11480" y="3566160"/>
            <a:ext cx="370332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041648" y="3566160"/>
            <a:ext cx="73152" cy="25603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3703320"/>
            <a:ext cx="3337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رابط وب + مدل پایه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069080"/>
            <a:ext cx="338328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en-US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FastAPI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: /video - /</a:t>
            </a:r>
            <a:r>
              <a:rPr lang="en-US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api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/status</a:t>
            </a: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استریم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MJPEG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به </a:t>
            </a:r>
            <a:r>
              <a:rPr lang="fa-IR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مرورگر</a:t>
            </a:r>
            <a:endParaRPr lang="fa-IR" sz="130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YOLO11n ≈ 2.6M 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پارامتر، بدون 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anchor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6 / 22</a:t>
            </a:r>
            <a:endParaRPr sz="1000" b="0" dirty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مجموعه‌داده CrowdHuman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44068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22024" y="1051560"/>
            <a:ext cx="82296" cy="502920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دلایل انتخاب و آماده‌سازی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50292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برچسب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bbox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عابر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در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صحنه‌های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شلوغ</a:t>
            </a:r>
            <a:endParaRPr sz="1300" b="1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بدیل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ODGT ← YOLO </a:t>
            </a:r>
            <a:r>
              <a:rPr lang="fa-IR"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با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convert_crowdhuman.py</a:t>
            </a:r>
          </a:p>
          <a:p>
            <a:pPr marL="285750" indent="-285750" algn="r" rtl="1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کلاس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۰ = person؛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تقسیم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train/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val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رسمی</a:t>
            </a:r>
            <a:endParaRPr sz="1300" b="1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Pretrain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روی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COCO؛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سپس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fine-tune </a:t>
            </a:r>
            <a:r>
              <a:rPr lang="fa-IR"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اختصاصی</a:t>
            </a:r>
            <a:endParaRPr sz="1300" b="1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آموزش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: ۱۵۳۲  |  </a:t>
            </a:r>
            <a:r>
              <a:rPr lang="fa-IR"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1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اعتبارسنجی</a:t>
            </a:r>
            <a:r>
              <a:rPr sz="1300" b="1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: ۳۸۳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5029200"/>
            <a:ext cx="2194560" cy="777240"/>
          </a:xfrm>
          <a:prstGeom prst="roundRect">
            <a:avLst>
              <a:gd name="adj" fmla="val 2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507492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1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آموزش</a:t>
            </a:r>
            <a:endParaRPr sz="1100" b="1" dirty="0">
              <a:solidFill>
                <a:srgbClr val="5A6A7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0" y="534924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۱۵۳۲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5029200"/>
            <a:ext cx="2194560" cy="777240"/>
          </a:xfrm>
          <a:prstGeom prst="roundRect">
            <a:avLst>
              <a:gd name="adj" fmla="val 2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5074920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1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اعتبارسنجی</a:t>
            </a:r>
            <a:endParaRPr sz="1100" b="1" dirty="0">
              <a:solidFill>
                <a:srgbClr val="5A6A7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52560" y="534924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۳۸۳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051560"/>
            <a:ext cx="562356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hart_datase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707" y="1453896"/>
            <a:ext cx="4131105" cy="45171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1124712"/>
            <a:ext cx="5440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1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توزیع</a:t>
            </a:r>
            <a:r>
              <a:rPr sz="1100" b="1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Train / 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7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تنظیمات</a:t>
            </a:r>
            <a:r>
              <a:rPr sz="2200" b="1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آموزش</a:t>
            </a:r>
            <a:r>
              <a:rPr sz="2200" b="1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2200" b="1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- </a:t>
            </a:r>
            <a:r>
              <a:rPr sz="2200" b="1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person_yolo11</a:t>
            </a:r>
            <a:r>
              <a:rPr lang="en-US" sz="2200" b="1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n</a:t>
            </a:r>
            <a:endParaRPr sz="2200" b="1" dirty="0">
              <a:solidFill>
                <a:srgbClr val="FFFFFF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183880" y="1097280"/>
            <a:ext cx="37033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83880" y="1097280"/>
            <a:ext cx="3703320" cy="6400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1298448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600200"/>
            <a:ext cx="3337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yolo11n.pt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7033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703320" cy="6400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298448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run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600200"/>
            <a:ext cx="3337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person_yolo11n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097280"/>
            <a:ext cx="37033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1097280"/>
            <a:ext cx="3703320" cy="6400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298448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epochs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600200"/>
            <a:ext cx="3337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۵۰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2331720"/>
            <a:ext cx="37033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80" y="2331720"/>
            <a:ext cx="3703320" cy="6400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2532888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imgsz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834640"/>
            <a:ext cx="3337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۶۴۰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331720"/>
            <a:ext cx="37033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97680" y="2331720"/>
            <a:ext cx="3703320" cy="6400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2532888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batch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834640"/>
            <a:ext cx="3337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2331720"/>
            <a:ext cx="37033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2331720"/>
            <a:ext cx="3703320" cy="6400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532888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optimizer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2834640"/>
            <a:ext cx="3337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auto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3566160"/>
            <a:ext cx="37033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83880" y="3566160"/>
            <a:ext cx="3703320" cy="6400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66760" y="3767328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lr0 / lrf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069080"/>
            <a:ext cx="3337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0.01 / 0.01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566160"/>
            <a:ext cx="37033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97680" y="3566160"/>
            <a:ext cx="3703320" cy="6400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3767328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mosaic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069080"/>
            <a:ext cx="3337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1.0 (close_mosaic=10)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566160"/>
            <a:ext cx="37033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1480" y="3566160"/>
            <a:ext cx="3703320" cy="6400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767328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amp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069080"/>
            <a:ext cx="3337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true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80" y="4800600"/>
            <a:ext cx="37033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83880" y="4800600"/>
            <a:ext cx="3703320" cy="6400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66760" y="5001768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patience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5303520"/>
            <a:ext cx="3337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۲۰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0" y="4800600"/>
            <a:ext cx="37033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97680" y="4800600"/>
            <a:ext cx="3703320" cy="6400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80560" y="5001768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زمان تقریبی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5303520"/>
            <a:ext cx="3337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۱۷٫۳ دقیقه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4800600"/>
            <a:ext cx="3703320" cy="10789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11480" y="4800600"/>
            <a:ext cx="3703320" cy="6400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5001768"/>
            <a:ext cx="3337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weights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5303520"/>
            <a:ext cx="3337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best.pt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8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2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38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84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6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2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1" grpId="0" animBg="1"/>
      <p:bldP spid="13" grpId="0"/>
      <p:bldP spid="14" grpId="0"/>
      <p:bldP spid="15" grpId="0" animBg="1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نتایج</a:t>
            </a:r>
            <a:r>
              <a:rPr sz="2200" b="1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کمی</a:t>
            </a:r>
            <a:r>
              <a:rPr lang="fa-IR" sz="2200" b="1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- </a:t>
            </a:r>
            <a:r>
              <a:rPr sz="2200" b="1" dirty="0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Fine-tune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051560"/>
            <a:ext cx="27889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89720" y="1051560"/>
            <a:ext cx="2788920" cy="6400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81160" y="1216152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بهترین mAP50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1490472"/>
            <a:ext cx="2606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26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۰٫۵۸۵</a:t>
            </a:r>
            <a:endParaRPr sz="2600" b="1" dirty="0">
              <a:solidFill>
                <a:srgbClr val="0B1F3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81160" y="1984248"/>
            <a:ext cx="2606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en-US" sz="1100" b="0" dirty="0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e</a:t>
            </a:r>
            <a:r>
              <a:rPr sz="1100" b="0" dirty="0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poch</a:t>
            </a:r>
            <a:r>
              <a:rPr lang="en-US" sz="1100" b="0" dirty="0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100" b="0" dirty="0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۴۹</a:t>
            </a:r>
            <a:endParaRPr sz="1100" b="0" dirty="0">
              <a:solidFill>
                <a:srgbClr val="1F8A9D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051560"/>
            <a:ext cx="27889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051560"/>
            <a:ext cx="2788920" cy="6400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216152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بهترین mAP50-95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90472"/>
            <a:ext cx="2606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26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۰٫۳۳۴</a:t>
            </a:r>
            <a:endParaRPr sz="2600" b="1" dirty="0">
              <a:solidFill>
                <a:srgbClr val="0B1F3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1984248"/>
            <a:ext cx="2606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>
                <a:solidFill>
                  <a:srgbClr val="C4A35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epoch ۴۸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051560"/>
            <a:ext cx="27889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7560" y="1051560"/>
            <a:ext cx="2788920" cy="6400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1216152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بهترین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1490472"/>
            <a:ext cx="2606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26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۰٫۷۳۹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1984248"/>
            <a:ext cx="2606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>
                <a:solidFill>
                  <a:srgbClr val="1F8A9D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epoch ۴۹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1051560"/>
            <a:ext cx="27889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1051560"/>
            <a:ext cx="2788920" cy="6400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1216152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بهترین 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490472"/>
            <a:ext cx="2606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2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۰٫۵۰۴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1984248"/>
            <a:ext cx="2606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>
                <a:solidFill>
                  <a:srgbClr val="C4A35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epoch ۵۰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2651760"/>
            <a:ext cx="11338560" cy="342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chart_kpi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176" y="3054096"/>
            <a:ext cx="5417166" cy="291693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2920" y="272491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مقایسه معیارهای کلیدی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9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بهبود نسبت به شروع آموزش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694944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974501"/>
            <a:ext cx="6729984" cy="3475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124712"/>
            <a:ext cx="6766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شروع</a:t>
            </a:r>
            <a:r>
              <a:rPr sz="110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← </a:t>
            </a:r>
            <a:r>
              <a:rPr lang="fa-IR" sz="110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100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پایان</a:t>
            </a:r>
            <a:endParaRPr sz="1100" dirty="0">
              <a:solidFill>
                <a:srgbClr val="5A6A7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589520" y="1051560"/>
            <a:ext cx="416052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667744" y="1051560"/>
            <a:ext cx="82296" cy="50292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1280160"/>
            <a:ext cx="374903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6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خلاصه بهبود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874519"/>
            <a:ext cx="3703320" cy="621792"/>
          </a:xfrm>
          <a:prstGeom prst="roundRect">
            <a:avLst>
              <a:gd name="adj" fmla="val 2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2011679"/>
            <a:ext cx="3520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mAP50</a:t>
            </a:r>
            <a:r>
              <a:rPr lang="fa-IR"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:	</a:t>
            </a:r>
            <a:r>
              <a:rPr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0.456</a:t>
            </a:r>
            <a:r>
              <a:rPr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← </a:t>
            </a:r>
            <a:r>
              <a:rPr lang="fa-IR"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0.585</a:t>
            </a:r>
            <a:endParaRPr sz="1400" b="1" dirty="0">
              <a:solidFill>
                <a:srgbClr val="0B1F3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18120" y="2606039"/>
            <a:ext cx="3703320" cy="621792"/>
          </a:xfrm>
          <a:prstGeom prst="roundRect">
            <a:avLst>
              <a:gd name="adj" fmla="val 20000"/>
            </a:avLst>
          </a:prstGeom>
          <a:solidFill>
            <a:srgbClr val="F8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2743199"/>
            <a:ext cx="3520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mAP50-95</a:t>
            </a:r>
            <a:r>
              <a:rPr lang="fa-IR"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:	</a:t>
            </a:r>
            <a:r>
              <a:rPr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0.225</a:t>
            </a:r>
            <a:r>
              <a:rPr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← </a:t>
            </a:r>
            <a:r>
              <a:rPr lang="fa-IR"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0.334</a:t>
            </a:r>
            <a:endParaRPr sz="1400" b="1" dirty="0">
              <a:solidFill>
                <a:srgbClr val="0B1F3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18120" y="3337559"/>
            <a:ext cx="3703320" cy="621792"/>
          </a:xfrm>
          <a:prstGeom prst="roundRect">
            <a:avLst>
              <a:gd name="adj" fmla="val 2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3474719"/>
            <a:ext cx="3520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Precision </a:t>
            </a:r>
            <a:r>
              <a:rPr lang="en-US"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≈</a:t>
            </a:r>
            <a:r>
              <a:rPr lang="fa-IR"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 0.739 </a:t>
            </a:r>
          </a:p>
          <a:p>
            <a:pPr algn="ctr"/>
            <a:endParaRPr sz="1400" b="1" dirty="0">
              <a:solidFill>
                <a:srgbClr val="0B1F3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818120" y="4069079"/>
            <a:ext cx="3703320" cy="621792"/>
          </a:xfrm>
          <a:prstGeom prst="roundRect">
            <a:avLst>
              <a:gd name="adj" fmla="val 20000"/>
            </a:avLst>
          </a:prstGeom>
          <a:solidFill>
            <a:srgbClr val="F8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4206239"/>
            <a:ext cx="3520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Recall ≈ </a:t>
            </a:r>
            <a:r>
              <a:rPr lang="fa-IR"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0.504</a:t>
            </a:r>
            <a:endParaRPr sz="1400" b="1" dirty="0">
              <a:solidFill>
                <a:srgbClr val="0B1F3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818120" y="4800599"/>
            <a:ext cx="3703320" cy="621792"/>
          </a:xfrm>
          <a:prstGeom prst="roundRect">
            <a:avLst>
              <a:gd name="adj" fmla="val 20000"/>
            </a:avLst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4937759"/>
            <a:ext cx="3520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4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زمان</a:t>
            </a:r>
            <a:r>
              <a:rPr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آموزش</a:t>
            </a:r>
            <a:r>
              <a:rPr sz="14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≈ ۱۷٫۳ </a:t>
            </a:r>
            <a:r>
              <a:rPr sz="14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دقیقه</a:t>
            </a:r>
            <a:endParaRPr sz="1400" b="1" dirty="0">
              <a:solidFill>
                <a:srgbClr val="0B1F3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10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روند mAP در طول آموزش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1133856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map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480" y="1453896"/>
            <a:ext cx="8768558" cy="45171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12471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روند</a:t>
            </a:r>
            <a:r>
              <a:rPr sz="11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mAP50 </a:t>
            </a:r>
            <a:r>
              <a:rPr lang="fa-IR" sz="11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1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 mAP50-95 </a:t>
            </a:r>
            <a:r>
              <a:rPr lang="fa-IR" sz="11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100" b="0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در</a:t>
            </a:r>
            <a:r>
              <a:rPr sz="11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۵۰ epoch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11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روند Precision و Recall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1133856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p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480" y="1453896"/>
            <a:ext cx="8768558" cy="45171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12471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روند</a:t>
            </a:r>
            <a:r>
              <a:rPr sz="11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Precision </a:t>
            </a:r>
            <a:r>
              <a:rPr lang="fa-IR" sz="11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1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 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12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توابع زیان آموزش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1133856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t_lo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770543"/>
            <a:ext cx="11119104" cy="388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124712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کاهش زیان‌های box / cls / dfl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13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منحنی‌های Precision–Recall و F1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51560"/>
            <a:ext cx="57150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Box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80616"/>
            <a:ext cx="5495544" cy="3663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124712"/>
            <a:ext cx="5532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منحنی BoxPR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57784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oxF1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926336"/>
            <a:ext cx="5358384" cy="35722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1124712"/>
            <a:ext cx="5394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منحنی BoxF1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14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ماتریس درهم‌ریختگی نرمال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051560"/>
            <a:ext cx="886968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336" y="1453896"/>
            <a:ext cx="6022848" cy="45171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37360" y="112471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ماتریس درهم‌ریختگی نرمال‌شده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15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نمونه‌های اعتبارسنجی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51560"/>
            <a:ext cx="57150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al_batch0_p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38219"/>
            <a:ext cx="5495544" cy="3148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124712"/>
            <a:ext cx="5532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val_batch0_pred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57784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val_batch1_p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177510"/>
            <a:ext cx="5358384" cy="3069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1124712"/>
            <a:ext cx="5394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val_batch1_pred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16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نمونه استنتاج واقعی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51560"/>
            <a:ext cx="768096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bus_detec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314" y="1453896"/>
            <a:ext cx="3387852" cy="45171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124712"/>
            <a:ext cx="7498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1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bus_detected – وزن best.pt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051560"/>
            <a:ext cx="347472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667744" y="1051560"/>
            <a:ext cx="82296" cy="502920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2801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نکات استنتاج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315468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تشخیص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کلاس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person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تصویر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نمونه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خروجی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با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وزن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best.pt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پس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از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fine-tune</a:t>
            </a:r>
          </a:p>
          <a:p>
            <a:pPr marL="285750" indent="-285750" algn="r" rt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مناسب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نمایش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کیف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ی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Pipeline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واقعی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ویدئو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/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وب‌کم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همین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مدل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را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استفاده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می‌کند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17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پیاده‌سازی و بازتولید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835640" y="1179576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35640" y="1234440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9784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setup-train.ps1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9784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آماده‌سازی محیط و وابستگی‌ها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56232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835640" y="1984248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35640" y="2039112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947672"/>
            <a:ext cx="9784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download_dataset.ps1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221992"/>
            <a:ext cx="9784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دانلود CrowdHuman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60904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835640" y="2788920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35640" y="2843784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752344"/>
            <a:ext cx="9784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convert_crowdhuman.py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026664"/>
            <a:ext cx="9784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تبدیل</a:t>
            </a:r>
            <a:r>
              <a:rPr sz="12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ODGT </a:t>
            </a:r>
            <a:r>
              <a:rPr lang="fa-IR" sz="12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200" b="0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</a:t>
            </a:r>
            <a:r>
              <a:rPr sz="12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200" b="0" dirty="0" err="1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فرمت</a:t>
            </a:r>
            <a:r>
              <a:rPr sz="1200" b="0" dirty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YOLO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65576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35640" y="3593592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35640" y="3648456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557016"/>
            <a:ext cx="9784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train_yolo11.ps1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31336"/>
            <a:ext cx="9784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آموزش YOLO11n – person_yolo11n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270248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835640" y="4398264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835640" y="4453128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61688"/>
            <a:ext cx="9784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export_metrics.py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636008"/>
            <a:ext cx="9784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استخراج معیارها و نمودارها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074920"/>
            <a:ext cx="111556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835640" y="5202936"/>
            <a:ext cx="502920" cy="457200"/>
          </a:xfrm>
          <a:prstGeom prst="roundRect">
            <a:avLst>
              <a:gd name="adj" fmla="val 30000"/>
            </a:avLst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835640" y="5257800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166360"/>
            <a:ext cx="97840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4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run.py + .env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440680"/>
            <a:ext cx="9784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2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تنظیم YOLO_MODEL=…/best.pt و اجرا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18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ردیابی چندشیء و شناسایی چهره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44068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31168" y="1051560"/>
            <a:ext cx="73152" cy="502920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188720"/>
            <a:ext cx="5074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ByteTrack</a:t>
            </a:r>
            <a:r>
              <a:rPr sz="15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5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/ </a:t>
            </a:r>
            <a:r>
              <a:rPr sz="15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ردیابی</a:t>
            </a:r>
            <a:endParaRPr sz="1500" b="1" dirty="0">
              <a:solidFill>
                <a:srgbClr val="0B1F3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بدون آموزش اضافه؛ 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post-processing 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روی 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detection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ها</a:t>
            </a: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Track ID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پایدار حتی با انسداد کوتاه</a:t>
            </a: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کیفیت وابسته به 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confidence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 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FPS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</a:t>
            </a: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BoT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-SORT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به‌عنوان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جایگزین 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Kalman + appearance)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)</a:t>
            </a:r>
            <a:endParaRPr lang="en-US" sz="130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fa-IR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فعال‌سازی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از طریق </a:t>
            </a:r>
            <a:r>
              <a:rPr lang="en-US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yaml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ردیاب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در </a:t>
            </a:r>
            <a:r>
              <a:rPr lang="en-US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Ultralytics</a:t>
            </a:r>
            <a:endParaRPr lang="en-US" sz="130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1051560"/>
            <a:ext cx="557784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61888" y="1051560"/>
            <a:ext cx="73152" cy="50292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18872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lang="en-US" sz="15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</a:t>
            </a:r>
            <a:r>
              <a:rPr sz="15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eepFace</a:t>
            </a:r>
            <a:r>
              <a:rPr sz="15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500" b="1" dirty="0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/ </a:t>
            </a:r>
            <a:r>
              <a:rPr sz="1500" b="1" dirty="0" err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چهره</a:t>
            </a:r>
            <a:endParaRPr sz="1500" b="1" dirty="0">
              <a:solidFill>
                <a:srgbClr val="0B1F3A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1554480"/>
            <a:ext cx="5257800" cy="1941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Facenet512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از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پیش‌آموزش‌دیده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–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بدون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train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از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صفر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گالری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known_faces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با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۵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تصویر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ثبت‌شده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بدون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گالری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←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برچسب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»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ناشنا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س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«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آستانه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کسینوسی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برای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پذیرش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en-US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/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رد</a:t>
            </a:r>
            <a:endParaRPr lang="fa-IR" sz="130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fa-IR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تست‌ها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:</a:t>
            </a:r>
          </a:p>
          <a:p>
            <a:pPr algn="ctr">
              <a:spcAft>
                <a:spcPts val="700"/>
              </a:spcAft>
            </a:pP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en-US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smoke_test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: PASS</a:t>
            </a:r>
            <a:b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</a:b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/</a:t>
            </a:r>
            <a:r>
              <a:rPr lang="en-US" sz="130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api</a:t>
            </a:r>
            <a:r>
              <a:rPr lang="en-US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/status =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19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محدودیت‌ها و کارهای آینده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44068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440680" cy="6400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983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7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محدودیت‌ها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507492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DeepFace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وابستگی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سنگین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TensorFlow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دارد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استریم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MJPEG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عمدتاً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برای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یک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کلاینت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همزمان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شناسایی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چهره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برش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کلی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بدن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،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ROI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دقیق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صورت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ارتقای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بیشتر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mAP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نیازمند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GPU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قوی‌تر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و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داده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محلی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صحنه‌های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بسیار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شلوغ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همچنان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چالش‌برانگیزند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1051560"/>
            <a:ext cx="557784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051560"/>
            <a:ext cx="5577840" cy="6400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7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پیشنهادات آینده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521208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آموزش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ویدئوهای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محلی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دانشگاه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/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محیط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هدف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استقرار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باTensorRT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یاONNX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برای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کاهش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تأخیر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285750" indent="-285750" algn="r" rtl="1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Re-ID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چنددوربینه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در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چارچوب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BoT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-SORT</a:t>
            </a:r>
          </a:p>
          <a:p>
            <a:pPr marL="285750" indent="-285750" algn="r" rtl="1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اجرا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Jetson / Raspberry Pi</a:t>
            </a:r>
          </a:p>
          <a:p>
            <a:pPr marL="285750" indent="-285750" algn="r" rtl="1">
              <a:spcAft>
                <a:spcPts val="1100"/>
              </a:spcAft>
              <a:buFont typeface="Arial" panose="020B0604020202020204" pitchFamily="34" charset="0"/>
              <a:buChar char="•"/>
            </a:pP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داشبورد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تحلیل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رفتار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و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تراکم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جمعیت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20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12191695" cy="4572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80467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414455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22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نتیجه‌گیری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11155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76304" y="1051560"/>
            <a:ext cx="82296" cy="84124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16128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Pipeline عملی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تشخیص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و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ردیابی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انسان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با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YOLO11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به‌همراه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لایه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اختیاری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DeepFace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پیاده‌سازی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شد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11155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76304" y="2011680"/>
            <a:ext cx="82296" cy="84124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12140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Fine-tune موفق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روی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CrowdHuman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: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بهترین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mAP50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=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۰٫۵۸۵ و mAP50-95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= 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۰٫۳۳۴.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71800"/>
            <a:ext cx="11155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6304" y="2971800"/>
            <a:ext cx="82296" cy="84124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08152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معماری مدرن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YOLO11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بدون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anchor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است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؛ hyperparameter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ها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برای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30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مشاهده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مستند </a:t>
            </a:r>
            <a:r>
              <a:rPr lang="fa-IR"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شده‌اند</a:t>
            </a:r>
            <a:r>
              <a:rPr lang="en-US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.</a:t>
            </a:r>
            <a:endParaRPr sz="1300" b="0" dirty="0">
              <a:solidFill>
                <a:srgbClr val="1C2430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11155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576304" y="3931920"/>
            <a:ext cx="82296" cy="84124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04164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بازتولیدپذیری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4340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اسکریپت‌های راه‌اندازی و آموزش، تکرار نتایج را ممکن می‌کنند.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92040"/>
            <a:ext cx="11155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576304" y="4892040"/>
            <a:ext cx="82296" cy="841248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001768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500" b="1">
                <a:solidFill>
                  <a:srgbClr val="0B1F3A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تحقق اهداف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rtl="1"/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تشخیص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،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ردیابی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،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چهره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،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وب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،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آموزش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و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مستندسازی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– </a:t>
            </a:r>
            <a:r>
              <a:rPr lang="fa-IR"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همگی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محقق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300" b="0" dirty="0" err="1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شدند</a:t>
            </a:r>
            <a:r>
              <a:rPr sz="1300" b="0" dirty="0">
                <a:solidFill>
                  <a:srgbClr val="1C243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92240"/>
            <a:ext cx="11277295" cy="12700"/>
          </a:xfrm>
          <a:prstGeom prst="rect">
            <a:avLst/>
          </a:prstGeom>
          <a:solidFill>
            <a:srgbClr val="E2D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تشخیص انسان با </a:t>
            </a:r>
            <a:r>
              <a:rPr lang="en-US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YOLO11  |  </a:t>
            </a:r>
            <a:r>
              <a:rPr lang="fa-IR" sz="1000" b="0">
                <a:solidFill>
                  <a:srgbClr val="5A6A7A"/>
                </a:solidFill>
                <a:latin typeface="Vazir" panose="020B0603030804020204" pitchFamily="34" charset="-78"/>
                <a:cs typeface="Vazir" panose="020B0603030804020204"/>
              </a:rPr>
              <a:t>ایمان احمدی  |  21 / 22</a:t>
            </a:r>
            <a:endParaRPr sz="1000" b="0">
              <a:solidFill>
                <a:srgbClr val="5A6A7A"/>
              </a:solidFill>
              <a:latin typeface="Vazir" panose="020B0603030804020204" pitchFamily="34" charset="-78"/>
              <a:cs typeface="Vazir" panose="020B060303080402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008815" y="0"/>
            <a:ext cx="182880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0" y="2194560"/>
            <a:ext cx="8503920" cy="3200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3600" b="1">
                <a:solidFill>
                  <a:srgbClr val="FFFFFF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با سپاس از توجه شما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800" b="0" dirty="0" err="1">
                <a:solidFill>
                  <a:srgbClr val="B0C4D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آماده</a:t>
            </a:r>
            <a:r>
              <a:rPr sz="1800" b="0" dirty="0">
                <a:solidFill>
                  <a:srgbClr val="B0C4D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800" b="0" dirty="0" err="1">
                <a:solidFill>
                  <a:srgbClr val="B0C4D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پاسخگویی</a:t>
            </a:r>
            <a:r>
              <a:rPr sz="1800" b="0" dirty="0">
                <a:solidFill>
                  <a:srgbClr val="B0C4D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800" b="0" dirty="0" err="1">
                <a:solidFill>
                  <a:srgbClr val="B0C4D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</a:t>
            </a:r>
            <a:r>
              <a:rPr sz="1800" b="0" dirty="0">
                <a:solidFill>
                  <a:srgbClr val="B0C4D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800" b="0" dirty="0" err="1">
                <a:solidFill>
                  <a:srgbClr val="B0C4D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پرسش‌ها</a:t>
            </a:r>
            <a:r>
              <a:rPr sz="1800" b="0" dirty="0">
                <a:solidFill>
                  <a:srgbClr val="B0C4D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800" b="0" dirty="0" err="1">
                <a:solidFill>
                  <a:srgbClr val="B0C4D8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هستم</a:t>
            </a:r>
            <a:endParaRPr sz="1800" b="0" dirty="0">
              <a:solidFill>
                <a:srgbClr val="B0C4D8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8800" y="4069080"/>
            <a:ext cx="8503920" cy="32004"/>
          </a:xfrm>
          <a:prstGeom prst="rect">
            <a:avLst/>
          </a:prstGeom>
          <a:solidFill>
            <a:srgbClr val="1F8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698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400" b="0" dirty="0" err="1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ایمان</a:t>
            </a:r>
            <a:r>
              <a:rPr sz="1400" b="0" dirty="0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0" dirty="0" err="1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احمدی</a:t>
            </a:r>
            <a:r>
              <a:rPr lang="fa-IR" sz="1400" b="0" dirty="0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en-US" sz="1400" dirty="0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400" dirty="0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|  </a:t>
            </a:r>
            <a:r>
              <a:rPr lang="fa-IR" sz="1400" b="0" dirty="0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د</a:t>
            </a:r>
            <a:r>
              <a:rPr sz="1400" b="0" dirty="0" err="1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کتر</a:t>
            </a:r>
            <a:r>
              <a:rPr sz="1400" b="0" dirty="0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0" dirty="0" err="1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رضا</a:t>
            </a:r>
            <a:r>
              <a:rPr sz="1400" b="0" dirty="0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0" dirty="0" err="1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شمسائی</a:t>
            </a:r>
            <a:r>
              <a:rPr lang="fa-IR" sz="1400" dirty="0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 </a:t>
            </a:r>
            <a:r>
              <a:rPr lang="fa-IR" sz="1400" b="0" dirty="0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|</a:t>
            </a:r>
            <a:r>
              <a:rPr sz="1400" b="0" dirty="0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400" b="0" dirty="0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sz="1400" b="0" dirty="0" err="1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شهریور</a:t>
            </a:r>
            <a:r>
              <a:rPr sz="1400" b="0" dirty="0">
                <a:solidFill>
                  <a:srgbClr val="9AB4D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۱۴۰۵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rtl="1"/>
            <a:r>
              <a:rPr sz="1200" b="0">
                <a:solidFill>
                  <a:srgbClr val="7A96B0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YOLO11n + ByteTrack + DeepFace (Facenet512) + FastAPI MJPEG</a:t>
            </a:r>
          </a:p>
        </p:txBody>
      </p:sp>
      <p:pic>
        <p:nvPicPr>
          <p:cNvPr id="13" name="GitHubLinkChip">
            <a:hlinkClick r:id="rId2" tooltip="https://github.com/DevimanAI/Yolo11-Human-Detection"/>
            <a:extLst>
              <a:ext uri="{FF2B5EF4-FFF2-40B4-BE49-F238E27FC236}">
                <a16:creationId xmlns:a16="http://schemas.microsoft.com/office/drawing/2014/main" id="{FC92A5E6-EFB4-1448-4E59-E2FA26C3FC0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701540" y="5687568"/>
            <a:ext cx="2788920" cy="658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Vazi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azi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1276</Words>
  <Application>Microsoft Office PowerPoint</Application>
  <PresentationFormat>Widescreen</PresentationFormat>
  <Paragraphs>277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Traditional Arabic</vt:lpstr>
      <vt:lpstr>Vazir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Iman Ahmadi</cp:lastModifiedBy>
  <cp:revision>79</cp:revision>
  <dcterms:created xsi:type="dcterms:W3CDTF">2013-01-27T09:14:16Z</dcterms:created>
  <dcterms:modified xsi:type="dcterms:W3CDTF">2026-10-04T10:14:37Z</dcterms:modified>
  <cp:category/>
</cp:coreProperties>
</file>